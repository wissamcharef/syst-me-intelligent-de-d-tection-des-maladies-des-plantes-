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dya b" userId="771d04864dbbf309" providerId="LiveId" clId="{10F20BB2-DF9B-482E-9A78-876FC379C740}"/>
    <pc:docChg chg="undo custSel modSld">
      <pc:chgData name="lidya b" userId="771d04864dbbf309" providerId="LiveId" clId="{10F20BB2-DF9B-482E-9A78-876FC379C740}" dt="2026-05-02T01:30:19.974" v="66" actId="20577"/>
      <pc:docMkLst>
        <pc:docMk/>
      </pc:docMkLst>
      <pc:sldChg chg="modSp mod">
        <pc:chgData name="lidya b" userId="771d04864dbbf309" providerId="LiveId" clId="{10F20BB2-DF9B-482E-9A78-876FC379C740}" dt="2026-05-02T01:28:03.048" v="64" actId="20577"/>
        <pc:sldMkLst>
          <pc:docMk/>
          <pc:sldMk cId="0" sldId="256"/>
        </pc:sldMkLst>
        <pc:spChg chg="mod">
          <ac:chgData name="lidya b" userId="771d04864dbbf309" providerId="LiveId" clId="{10F20BB2-DF9B-482E-9A78-876FC379C740}" dt="2026-05-02T01:28:03.048" v="64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 mod">
        <pc:chgData name="lidya b" userId="771d04864dbbf309" providerId="LiveId" clId="{10F20BB2-DF9B-482E-9A78-876FC379C740}" dt="2026-05-02T01:30:19.974" v="66" actId="20577"/>
        <pc:sldMkLst>
          <pc:docMk/>
          <pc:sldMk cId="0" sldId="259"/>
        </pc:sldMkLst>
        <pc:spChg chg="mod">
          <ac:chgData name="lidya b" userId="771d04864dbbf309" providerId="LiveId" clId="{10F20BB2-DF9B-482E-9A78-876FC379C740}" dt="2026-05-02T01:30:01.688" v="65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lidya b" userId="771d04864dbbf309" providerId="LiveId" clId="{10F20BB2-DF9B-482E-9A78-876FC379C740}" dt="2026-05-02T01:30:19.974" v="66" actId="20577"/>
          <ac:spMkLst>
            <pc:docMk/>
            <pc:sldMk cId="0" sldId="259"/>
            <ac:spMk id="34" creationId="{00000000-0000-0000-0000-000000000000}"/>
          </ac:spMkLst>
        </pc:spChg>
      </pc:sldChg>
      <pc:sldChg chg="modSp mod">
        <pc:chgData name="lidya b" userId="771d04864dbbf309" providerId="LiveId" clId="{10F20BB2-DF9B-482E-9A78-876FC379C740}" dt="2026-05-01T23:16:16.094" v="6" actId="1076"/>
        <pc:sldMkLst>
          <pc:docMk/>
          <pc:sldMk cId="0" sldId="261"/>
        </pc:sldMkLst>
        <pc:spChg chg="mod">
          <ac:chgData name="lidya b" userId="771d04864dbbf309" providerId="LiveId" clId="{10F20BB2-DF9B-482E-9A78-876FC379C740}" dt="2026-05-01T23:16:16.094" v="6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lidya b" userId="771d04864dbbf309" providerId="LiveId" clId="{10F20BB2-DF9B-482E-9A78-876FC379C740}" dt="2026-05-01T23:15:53.985" v="3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lidya b" userId="771d04864dbbf309" providerId="LiveId" clId="{10F20BB2-DF9B-482E-9A78-876FC379C740}" dt="2026-05-01T23:16:06" v="5" actId="1076"/>
          <ac:spMkLst>
            <pc:docMk/>
            <pc:sldMk cId="0" sldId="261"/>
            <ac:spMk id="37" creationId="{00000000-0000-0000-0000-000000000000}"/>
          </ac:spMkLst>
        </pc:spChg>
      </pc:sldChg>
      <pc:sldChg chg="modSp mod">
        <pc:chgData name="lidya b" userId="771d04864dbbf309" providerId="LiveId" clId="{10F20BB2-DF9B-482E-9A78-876FC379C740}" dt="2026-05-01T23:22:47.690" v="42" actId="14100"/>
        <pc:sldMkLst>
          <pc:docMk/>
          <pc:sldMk cId="0" sldId="262"/>
        </pc:sldMkLst>
        <pc:spChg chg="mod">
          <ac:chgData name="lidya b" userId="771d04864dbbf309" providerId="LiveId" clId="{10F20BB2-DF9B-482E-9A78-876FC379C740}" dt="2026-05-01T23:21:19.306" v="32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lidya b" userId="771d04864dbbf309" providerId="LiveId" clId="{10F20BB2-DF9B-482E-9A78-876FC379C740}" dt="2026-05-01T23:22:26.013" v="41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lidya b" userId="771d04864dbbf309" providerId="LiveId" clId="{10F20BB2-DF9B-482E-9A78-876FC379C740}" dt="2026-05-01T23:21:10.882" v="30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lidya b" userId="771d04864dbbf309" providerId="LiveId" clId="{10F20BB2-DF9B-482E-9A78-876FC379C740}" dt="2026-05-01T23:21:34.117" v="34" actId="107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lidya b" userId="771d04864dbbf309" providerId="LiveId" clId="{10F20BB2-DF9B-482E-9A78-876FC379C740}" dt="2026-05-01T23:21:37.734" v="35" actId="1076"/>
          <ac:spMkLst>
            <pc:docMk/>
            <pc:sldMk cId="0" sldId="262"/>
            <ac:spMk id="24" creationId="{00000000-0000-0000-0000-000000000000}"/>
          </ac:spMkLst>
        </pc:spChg>
        <pc:spChg chg="mod">
          <ac:chgData name="lidya b" userId="771d04864dbbf309" providerId="LiveId" clId="{10F20BB2-DF9B-482E-9A78-876FC379C740}" dt="2026-05-01T23:21:52.804" v="38" actId="1076"/>
          <ac:spMkLst>
            <pc:docMk/>
            <pc:sldMk cId="0" sldId="262"/>
            <ac:spMk id="25" creationId="{00000000-0000-0000-0000-000000000000}"/>
          </ac:spMkLst>
        </pc:spChg>
        <pc:spChg chg="mod">
          <ac:chgData name="lidya b" userId="771d04864dbbf309" providerId="LiveId" clId="{10F20BB2-DF9B-482E-9A78-876FC379C740}" dt="2026-05-01T23:22:12.358" v="40" actId="1076"/>
          <ac:spMkLst>
            <pc:docMk/>
            <pc:sldMk cId="0" sldId="262"/>
            <ac:spMk id="26" creationId="{00000000-0000-0000-0000-000000000000}"/>
          </ac:spMkLst>
        </pc:spChg>
        <pc:graphicFrameChg chg="mod modGraphic">
          <ac:chgData name="lidya b" userId="771d04864dbbf309" providerId="LiveId" clId="{10F20BB2-DF9B-482E-9A78-876FC379C740}" dt="2026-05-01T23:22:47.690" v="42" actId="14100"/>
          <ac:graphicFrameMkLst>
            <pc:docMk/>
            <pc:sldMk cId="0" sldId="262"/>
            <ac:graphicFrameMk id="27" creationId="{00000000-0000-0000-0000-000000000000}"/>
          </ac:graphicFrameMkLst>
        </pc:graphicFrameChg>
      </pc:sldChg>
      <pc:sldChg chg="modSp mod">
        <pc:chgData name="lidya b" userId="771d04864dbbf309" providerId="LiveId" clId="{10F20BB2-DF9B-482E-9A78-876FC379C740}" dt="2026-05-01T23:30:47.144" v="63" actId="20577"/>
        <pc:sldMkLst>
          <pc:docMk/>
          <pc:sldMk cId="0" sldId="266"/>
        </pc:sldMkLst>
        <pc:spChg chg="mod">
          <ac:chgData name="lidya b" userId="771d04864dbbf309" providerId="LiveId" clId="{10F20BB2-DF9B-482E-9A78-876FC379C740}" dt="2026-05-01T23:30:47.144" v="63" actId="20577"/>
          <ac:spMkLst>
            <pc:docMk/>
            <pc:sldMk cId="0" sldId="266"/>
            <ac:spMk id="6" creationId="{00000000-0000-0000-0000-000000000000}"/>
          </ac:spMkLst>
        </pc:spChg>
        <pc:spChg chg="mod">
          <ac:chgData name="lidya b" userId="771d04864dbbf309" providerId="LiveId" clId="{10F20BB2-DF9B-482E-9A78-876FC379C740}" dt="2026-05-01T23:18:57.808" v="9" actId="20577"/>
          <ac:spMkLst>
            <pc:docMk/>
            <pc:sldMk cId="0" sldId="266"/>
            <ac:spMk id="8" creationId="{00000000-0000-0000-0000-000000000000}"/>
          </ac:spMkLst>
        </pc:spChg>
        <pc:spChg chg="mod">
          <ac:chgData name="lidya b" userId="771d04864dbbf309" providerId="LiveId" clId="{10F20BB2-DF9B-482E-9A78-876FC379C740}" dt="2026-05-01T23:18:33.568" v="8" actId="20577"/>
          <ac:spMkLst>
            <pc:docMk/>
            <pc:sldMk cId="0" sldId="266"/>
            <ac:spMk id="9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3A2D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B3A2D"/>
                </a:solidFill>
                <a:latin typeface="Arial"/>
              </a:rPr>
              <a:t>Loss Curve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Loss</c:v>
                </c:pt>
              </c:strCache>
            </c:strRef>
          </c:tx>
          <c:spPr>
            <a:ln w="38100" cap="flat">
              <a:solidFill>
                <a:srgbClr val="E76F5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6F51"/>
              </a:solidFill>
              <a:ln w="9525" cap="flat">
                <a:solidFill>
                  <a:srgbClr val="E76F5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Baseline</c:v>
                </c:pt>
                <c:pt idx="1">
                  <c:v>Epoch 1</c:v>
                </c:pt>
                <c:pt idx="2">
                  <c:v>Epoch 2</c:v>
                </c:pt>
                <c:pt idx="3">
                  <c:v>Epoch 3</c:v>
                </c:pt>
                <c:pt idx="4">
                  <c:v>Epoch 4</c:v>
                </c:pt>
                <c:pt idx="5">
                  <c:v>Epoch 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1">
                  <c:v>0.68830000000000002</c:v>
                </c:pt>
                <c:pt idx="2">
                  <c:v>0.3276</c:v>
                </c:pt>
                <c:pt idx="3">
                  <c:v>0.22170000000000001</c:v>
                </c:pt>
                <c:pt idx="4">
                  <c:v>9.74E-2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9FC-41D6-A46B-D568D724E3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Loss</c:v>
                </c:pt>
              </c:strCache>
            </c:strRef>
          </c:tx>
          <c:spPr>
            <a:ln w="38100" cap="flat">
              <a:solidFill>
                <a:srgbClr val="2E6B4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6B4F"/>
              </a:solidFill>
              <a:ln w="9525" cap="flat">
                <a:solidFill>
                  <a:srgbClr val="2E6B4F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Baseline</c:v>
                </c:pt>
                <c:pt idx="1">
                  <c:v>Epoch 1</c:v>
                </c:pt>
                <c:pt idx="2">
                  <c:v>Epoch 2</c:v>
                </c:pt>
                <c:pt idx="3">
                  <c:v>Epoch 3</c:v>
                </c:pt>
                <c:pt idx="4">
                  <c:v>Epoch 4</c:v>
                </c:pt>
                <c:pt idx="5">
                  <c:v>Epoch 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3.6377999999999999</c:v>
                </c:pt>
                <c:pt idx="1">
                  <c:v>0.78080000000000005</c:v>
                </c:pt>
                <c:pt idx="2">
                  <c:v>0.3503</c:v>
                </c:pt>
                <c:pt idx="3">
                  <c:v>0.3085</c:v>
                </c:pt>
                <c:pt idx="4">
                  <c:v>5.74E-2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9FC-41D6-A46B-D568D724E3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3A2D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B3A2D"/>
                </a:solidFill>
                <a:latin typeface="Arial"/>
              </a:rPr>
              <a:t>Accuracy Curve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Accuracy (%)</c:v>
                </c:pt>
              </c:strCache>
            </c:strRef>
          </c:tx>
          <c:spPr>
            <a:ln w="38100" cap="flat">
              <a:solidFill>
                <a:srgbClr val="2E6B4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6B4F"/>
              </a:solidFill>
              <a:ln w="9525" cap="flat">
                <a:solidFill>
                  <a:srgbClr val="2E6B4F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Baseline</c:v>
                </c:pt>
                <c:pt idx="1">
                  <c:v>Epoch 1</c:v>
                </c:pt>
                <c:pt idx="2">
                  <c:v>Epoch 2</c:v>
                </c:pt>
                <c:pt idx="3">
                  <c:v>Epoch 3</c:v>
                </c:pt>
                <c:pt idx="4">
                  <c:v>Epoch 4</c:v>
                </c:pt>
                <c:pt idx="5">
                  <c:v>Epoch 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2.77</c:v>
                </c:pt>
                <c:pt idx="1">
                  <c:v>77.55</c:v>
                </c:pt>
                <c:pt idx="2">
                  <c:v>88.61</c:v>
                </c:pt>
                <c:pt idx="3">
                  <c:v>90.94</c:v>
                </c:pt>
                <c:pt idx="4">
                  <c:v>98.23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9FE-432E-A3D4-E6A347CBE2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780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4114800" cy="411480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560320"/>
            <a:ext cx="3200400" cy="320040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2926080"/>
            <a:ext cx="2468880" cy="246888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457200"/>
            <a:ext cx="960120" cy="9601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572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84048" y="15087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Diseases Detection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384048" y="2606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with PyTorch &amp; CNN — Jupyter Notebook Walkthrough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84048" y="3291840"/>
            <a:ext cx="36576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3429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CNN_NeuralNet  ·  ResNet-style Architecture  ·  PlantVillage Dataset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38404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36576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Structure — Table of Contents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54864" cy="45217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042416"/>
            <a:ext cx="438912" cy="438912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042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0241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2893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plant disease detection matters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" y="1618488"/>
            <a:ext cx="438912" cy="438912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1618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600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&amp; Setup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186537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PyTorch, torchvision, DataLoader configuration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" y="2194560"/>
            <a:ext cx="438912" cy="438912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176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24414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 — 38 classes, 87 000+ images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1168" y="2770632"/>
            <a:ext cx="438912" cy="438912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27706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27523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30175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CNN_NeuralNet — ResNet-style with residual blocks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" y="3346704"/>
            <a:ext cx="438912" cy="438912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" y="3346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3328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— One-Cycle LR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35935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epochs, Adam optimizer, gradient clipping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01168" y="3922776"/>
            <a:ext cx="438912" cy="438912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" y="39227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39044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416966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&amp; accuracy curves, model saving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01168" y="4498848"/>
            <a:ext cx="438912" cy="438912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" y="4498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448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Predictions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47457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inference on unseen test images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36576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47472" y="62179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plant disease detection matters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54864" cy="45217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914400"/>
            <a:ext cx="1965960" cy="123444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005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4592" y="1645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losses/year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(FAO)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914400"/>
            <a:ext cx="1965960" cy="1234440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1005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87K+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240280" y="1645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15968" y="914400"/>
            <a:ext cx="1965960" cy="123444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5968" y="1005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315968" y="1645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species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91656" y="914400"/>
            <a:ext cx="1965960" cy="1234440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1656" y="10058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91656" y="16459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validation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4592" y="22860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Motivations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1168" y="2651760"/>
            <a:ext cx="8641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disease detection protects crops and reduces large-scale damage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impact: reducing losses supports farmers' income and sector stability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security: ensuring healthy crop supply for a growing global population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benefit: accurate detection limits excessive pesticide use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CNN: dynamic computation graphs + automatic visual feature extraction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36576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&amp; Setup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47472" y="62179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54864" cy="45217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98755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987552"/>
            <a:ext cx="54864" cy="47548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241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torch.nn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0040" y="12344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building blocks &amp; loss functions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" y="1536192"/>
            <a:ext cx="4206240" cy="475488"/>
          </a:xfrm>
          <a:prstGeom prst="rect">
            <a:avLst/>
          </a:prstGeom>
          <a:solidFill>
            <a:srgbClr val="E6F0EA"/>
          </a:solidFill>
          <a:ln w="12700">
            <a:solidFill>
              <a:srgbClr val="D1E8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536192"/>
            <a:ext cx="54864" cy="47548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5727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torchvision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0040" y="17830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ImageFolder, transforms, pre-built architectures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" y="208483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084832"/>
            <a:ext cx="54864" cy="47548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12140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0040" y="23317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loading with shuffle, num_workers, pin_memory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4592" y="2633472"/>
            <a:ext cx="4206240" cy="475488"/>
          </a:xfrm>
          <a:prstGeom prst="rect">
            <a:avLst/>
          </a:prstGeom>
          <a:solidFill>
            <a:srgbClr val="E6F0EA"/>
          </a:solidFill>
          <a:ln w="12700">
            <a:solidFill>
              <a:srgbClr val="D1E8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633472"/>
            <a:ext cx="54864" cy="47548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6700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/ Pillow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0040" y="28803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reading and format handling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4592" y="318211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3182112"/>
            <a:ext cx="54864" cy="47548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2186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+ Seaborn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20040" y="3429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of class distributions &amp; metrics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64592" y="3730752"/>
            <a:ext cx="4206240" cy="475488"/>
          </a:xfrm>
          <a:prstGeom prst="rect">
            <a:avLst/>
          </a:prstGeom>
          <a:solidFill>
            <a:srgbClr val="E6F0EA"/>
          </a:solidFill>
          <a:ln w="12700">
            <a:solidFill>
              <a:srgbClr val="D1E8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4592" y="3730752"/>
            <a:ext cx="54864" cy="47548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7673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/ Pandas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0040" y="39776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operations and data handling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64592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4592" y="4279392"/>
            <a:ext cx="54864" cy="47548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3159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Colorama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20040" y="45262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Colored console output for training logs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9601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663440" y="1298448"/>
            <a:ext cx="4251960" cy="2331720"/>
          </a:xfrm>
          <a:prstGeom prst="rect">
            <a:avLst/>
          </a:prstGeom>
          <a:solidFill>
            <a:srgbClr val="1E2D26"/>
          </a:solidFill>
          <a:ln w="12700">
            <a:solidFill>
              <a:srgbClr val="1E2D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1353312"/>
            <a:ext cx="40690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get_default_device():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torch.cuda.is_available: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torch.device("cuda")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torch.device("cpu")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to_device(data, device):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isinstance(data, (list,tuple)):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[to_device(x,device)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for x in data]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data.to(device,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non_blocking=True)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63440" y="370332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GPU?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63440" y="39776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the full dataset took ~6 hours on CPU. GPU parallel processing reduces this dramatically, enabling faster experimentation and hyperparameter tuning.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36576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47472" y="62179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 — structure, loading and augmentation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54864" cy="45217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914400"/>
          <a:ext cx="5303520" cy="29260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PlantVillage — Kaggle / Penn State University (CC0)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Images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87 000+ images  |  ~2.7 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disease/healthy classes across 14 plant species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Format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JPEG, RGB, 256 × 256 px after resize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Split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~70 000 images  (ImageFolder → DataLoader)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Split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~17 000 images  |  Batch size: 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ToTensor()  →  values normalized [0, 1]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0" y="868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Structure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0" y="1188720"/>
            <a:ext cx="3246120" cy="1920240"/>
          </a:xfrm>
          <a:prstGeom prst="rect">
            <a:avLst/>
          </a:prstGeom>
          <a:solidFill>
            <a:srgbClr val="1E2D26"/>
          </a:solidFill>
          <a:ln w="12700">
            <a:solidFill>
              <a:srgbClr val="1E2D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06440" y="1243584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Root_dir/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train/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Apple___Apple_scab/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Tomato___Late_blight/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Corn___Common_rust/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... (38 classes)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valid/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... (same structure)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test/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669280" y="3200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 Setup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669280" y="3520440"/>
            <a:ext cx="3246120" cy="1188720"/>
          </a:xfrm>
          <a:prstGeom prst="rect">
            <a:avLst/>
          </a:prstGeom>
          <a:solidFill>
            <a:srgbClr val="1E2D26"/>
          </a:solidFill>
          <a:ln w="12700">
            <a:solidFill>
              <a:srgbClr val="1E2D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06440" y="357530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train_dl = DataLoader(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train, batch_size=32,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shuffle=True,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num_workers=2,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pin_memory=True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64592" y="3913632"/>
            <a:ext cx="5303520" cy="868680"/>
          </a:xfrm>
          <a:prstGeom prst="rect">
            <a:avLst/>
          </a:prstGeom>
          <a:solidFill>
            <a:srgbClr val="E6F0EA"/>
          </a:solidFill>
          <a:ln w="12700">
            <a:solidFill>
              <a:srgbClr val="D1E8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3950208"/>
            <a:ext cx="5120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ImageFolder auto-assigns class labels from subfolder names. Each sample is a tuple (image_tensor [3×256×256], class_index). The permute(1,2,0) call is used to convert CHW → HWC format for matplotlib display.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36576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— CNN_NeuralNet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96672" y="572443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ResNet-style with residual connections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54864" cy="45217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822960"/>
            <a:ext cx="2194560" cy="43891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8595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" y="10607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6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256 × 256  (RGB)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261872" y="1261872"/>
            <a:ext cx="0" cy="8229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1344168"/>
            <a:ext cx="2194560" cy="438912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13807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4592" y="15819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filters  · BN · ReLU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261872" y="1783080"/>
            <a:ext cx="0" cy="8229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" y="1865376"/>
            <a:ext cx="2194560" cy="438912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" y="190195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 + Pool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4592" y="21031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filters · MaxPool(4)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261872" y="2304288"/>
            <a:ext cx="0" cy="8229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2386584"/>
            <a:ext cx="2194560" cy="4389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" y="242316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Block 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4592" y="26243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128→128  (skip connection)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261872" y="2825496"/>
            <a:ext cx="0" cy="8229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4592" y="2907792"/>
            <a:ext cx="2194560" cy="438912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" y="29443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Conv3 + Pool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4592" y="314553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filters · MaxPool(4)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261872" y="3346704"/>
            <a:ext cx="0" cy="8229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3429000"/>
            <a:ext cx="2194560" cy="438912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" y="346557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Conv4 + Pool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4592" y="366674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filters · MaxPool(4)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261872" y="3867912"/>
            <a:ext cx="0" cy="8229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4592" y="3950208"/>
            <a:ext cx="2194560" cy="4389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4592" y="39867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Block 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4592" y="41879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512→512  (skip connection)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261872" y="4389120"/>
            <a:ext cx="0" cy="8229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4592" y="4471416"/>
            <a:ext cx="2194560" cy="43891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4592" y="45079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64592" y="47091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MaxPool(4) → Flatten → Linear(512, 38)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651760" y="7955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ConvBlock Definition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651760" y="1115568"/>
            <a:ext cx="6263640" cy="1920240"/>
          </a:xfrm>
          <a:prstGeom prst="rect">
            <a:avLst/>
          </a:prstGeom>
          <a:solidFill>
            <a:srgbClr val="1E2D26"/>
          </a:solidFill>
          <a:ln w="12700">
            <a:solidFill>
              <a:srgbClr val="1E2D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88920" y="1170432"/>
            <a:ext cx="6080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ConvBlock(in_ch, out_ch, pool=False):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layers =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nn.Conv2d(in_ch, out_ch,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kernel_size=3, padding=1),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nn.BatchNorm2d(out_ch),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nn.ReLU(inplace=True)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pool: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layers.append(nn.MaxPool2d(4))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nn.Sequential(*layers)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651760" y="310896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Residual Connections?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651760" y="3429000"/>
            <a:ext cx="626364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add the input to the output: out = F(x) + x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vanishing gradients in deeper networks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the network to learn identity mappings when needed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higher accuracy without adding extra parameters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residual blocks: res1 (128-ch) and res2 (512-ch)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36576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— One-Cycle Learning Rate Policy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73736" y="43582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fit_OneCycle: 5 epochs, Adam optimizer, gradient clipping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54864" cy="45217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13232"/>
            <a:ext cx="1645920" cy="89611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74980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" y="1188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29384" y="713232"/>
            <a:ext cx="1645920" cy="896112"/>
          </a:xfrm>
          <a:prstGeom prst="rect">
            <a:avLst/>
          </a:prstGeom>
          <a:solidFill>
            <a:srgbClr val="2E6B4F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74980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29384" y="1188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94176" y="713232"/>
            <a:ext cx="1645920" cy="89611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4176" y="74980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94176" y="1188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58968" y="713232"/>
            <a:ext cx="1645920" cy="896112"/>
          </a:xfrm>
          <a:prstGeom prst="rect">
            <a:avLst/>
          </a:prstGeom>
          <a:solidFill>
            <a:srgbClr val="2E6B4F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58968" y="74980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58968" y="1188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 Clip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23760" y="713232"/>
            <a:ext cx="1645920" cy="89611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74980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23760" y="1188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One-Cycle LR Policy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64592" y="2057400"/>
            <a:ext cx="4389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Anneals LR from initial → max → min over all steps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super-convergence with fewer epochs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sched.step() called after every batch (not epoch)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cache cleared with torch.cuda.empty_cache()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logs: train_loss, val_loss, val_acc per epoch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54880" y="155448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Loop (simplified)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776730"/>
            <a:ext cx="4160520" cy="2080550"/>
          </a:xfrm>
          <a:prstGeom prst="rect">
            <a:avLst/>
          </a:prstGeom>
          <a:solidFill>
            <a:srgbClr val="1E2D26"/>
          </a:solidFill>
          <a:ln w="12700">
            <a:solidFill>
              <a:srgbClr val="1E2D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7221" y="1765590"/>
            <a:ext cx="3977640" cy="1765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epoch in range(epochs):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model.train()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batch in train_loader: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loss = model.training_step(batch)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loss.backward()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grad_clip: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nn.utils.clip_grad_value_(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model.parameters(),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grad_clip)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optimizer.step()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optimizer.zero_grad()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sched.step()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evaluate(model, val_loader)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history.append(result)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58061" y="3590616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 (actual results)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739845"/>
              </p:ext>
            </p:extLst>
          </p:nvPr>
        </p:nvGraphicFramePr>
        <p:xfrm>
          <a:off x="164591" y="3809056"/>
          <a:ext cx="8765176" cy="1645920"/>
        </p:xfrm>
        <a:graphic>
          <a:graphicData uri="http://schemas.openxmlformats.org/drawingml/2006/table">
            <a:tbl>
              <a:tblPr/>
              <a:tblGrid>
                <a:gridCol w="2282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9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9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25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6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Acc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6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3.6378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6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77.55%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6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88.61%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6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6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6B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98.23%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36576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47472" y="62179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and accuracy curves after 5 epochs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54864" cy="45217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164592" y="987552"/>
          <a:ext cx="49377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5120640" y="987552"/>
          <a:ext cx="38404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164592" y="345643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164592" y="3794760"/>
            <a:ext cx="2834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A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64592" y="3794760"/>
            <a:ext cx="64008" cy="1115568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01752" y="38221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convergence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301752" y="4114800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2.77% to 98.23% accuracy in just 4 epochs — One-Cycle LR policy drives super-convergence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136392" y="3794760"/>
            <a:ext cx="2834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A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136392" y="3794760"/>
            <a:ext cx="64008" cy="1115568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73552" y="38221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validation loss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273552" y="4114800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 dropped from 3.64 → 0.057, confirming strong generalization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108192" y="3794760"/>
            <a:ext cx="283464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DA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08192" y="3794760"/>
            <a:ext cx="64008" cy="1115568"/>
          </a:xfrm>
          <a:prstGeom prst="rect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45352" y="38221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saved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6245352" y="4114800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torch.save(model.state_dict(), 'model.pth') — full model + weights exported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36576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Predictions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47472" y="62179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on unseen images using the trained model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54864" cy="45217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7772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Pipeline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4592" y="1188720"/>
            <a:ext cx="384048" cy="384048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11612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 Image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8368" y="13716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ImageFolder(test_dir, transform=ToTensor())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64592" y="1700784"/>
            <a:ext cx="384048" cy="384048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16733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Unsqueeze Batch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8368" y="18836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img.unsqueeze(0) → shape [1, 3, 256, 256]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4592" y="2212848"/>
            <a:ext cx="384048" cy="384048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21854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Device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8368" y="2395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to_device(img, device) → GPU/CPU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64592" y="2724912"/>
            <a:ext cx="384048" cy="384048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26974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Forward Pass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8368" y="290779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yb = model(xb) → 38-class logits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4592" y="3236976"/>
            <a:ext cx="384048" cy="384048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" y="32095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Prediction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8368" y="34198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torch.max(yb, dim=1) → class index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4592" y="3749040"/>
            <a:ext cx="384048" cy="384048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4592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" y="37216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Class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58368" y="39319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train.classes[preds[0].item()]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77724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predict_image() Function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0" y="1115568"/>
            <a:ext cx="4343400" cy="2331720"/>
          </a:xfrm>
          <a:prstGeom prst="rect">
            <a:avLst/>
          </a:prstGeom>
          <a:solidFill>
            <a:srgbClr val="1E2D26"/>
          </a:solidFill>
          <a:ln w="12700">
            <a:solidFill>
              <a:srgbClr val="1E2D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170432"/>
            <a:ext cx="4160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predict_image(img, model):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Convert to batch of 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xb = to_device(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img.unsqueeze(0), device)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Get predictions from model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yb = model(xb)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Pick index with highest prob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_, preds = torch.max(yb, dim=1)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Decode class label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train.classes[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4C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preds[0].item()]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0" y="3520440"/>
            <a:ext cx="4343400" cy="1371600"/>
          </a:xfrm>
          <a:prstGeom prst="rect">
            <a:avLst/>
          </a:prstGeom>
          <a:solidFill>
            <a:srgbClr val="E6F0EA"/>
          </a:solidFill>
          <a:ln w="12700">
            <a:solidFill>
              <a:srgbClr val="D1E8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5661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Sample Predictions (all correct)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09160" y="3895344"/>
            <a:ext cx="4114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8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test[1]  →  Tomato___Tomato_mosaic_virus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8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test[5]  →  Apple___Black_rot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8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test[9]  →  Corn___Common_rust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8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test[16] →  Potato___Early_blight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8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test[26] →  Grape___Black_rot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36576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Summary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621792"/>
            <a:ext cx="54864" cy="45217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77724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4592" y="1115568"/>
            <a:ext cx="4251960" cy="2395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CNN pipeline in PyTorch from raw images to prediction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CNN_NeuralNet with ResNet-style residual connections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38-class classification on PlantVillage (87 000+ images)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32 · DataLoader with GPU pinned memory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One-Cycle LR drove accuracy from 2.77% → 98.23% in 4 epochs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model as .pth for deployment or fine-tuning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17720" y="777240"/>
            <a:ext cx="0" cy="2743200"/>
          </a:xfrm>
          <a:prstGeom prst="line">
            <a:avLst/>
          </a:prstGeom>
          <a:noFill/>
          <a:ln w="12700">
            <a:solidFill>
              <a:srgbClr val="D1E8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7772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115568"/>
            <a:ext cx="4160520" cy="2395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learning: fine-tune ResNet50 / EfficientNet for higher accuracy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augmentation: add RandomCrop, MixUp for robustness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Grad-CAM: visualize which leaf regions activate disease prediction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ONNX / TFLite for mobile/offline deployment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real-field images (non-lab conditions)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8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 loop for continuous model improvement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64592" y="3657600"/>
            <a:ext cx="8796528" cy="1261872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694176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CNN_NeuralNet model demonstrates that a well-designed residual architecture,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One-Cycle LR and GPU acceleration, achieves near-perfect plant disease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— providing a practical AI tool to support precision agriculture.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097280"/>
            <a:ext cx="4572000" cy="457200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560320"/>
            <a:ext cx="3657600" cy="3657600"/>
          </a:xfrm>
          <a:prstGeom prst="ellipse">
            <a:avLst/>
          </a:prstGeom>
          <a:solidFill>
            <a:srgbClr val="2E6B4F"/>
          </a:solidFill>
          <a:ln w="12700">
            <a:solidFill>
              <a:srgbClr val="2E6B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926080"/>
            <a:ext cx="2743200" cy="27432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Diseases Detection — </a:t>
            </a:r>
            <a:r>
              <a:rPr lang="en-US" sz="1800" i="1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r>
              <a:rPr lang="en-US" sz="18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CNN_NeuralNet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3063240"/>
            <a:ext cx="27432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1568</Words>
  <Application>Microsoft Office PowerPoint</Application>
  <PresentationFormat>On-screen Show (16:9)</PresentationFormat>
  <Paragraphs>286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 Diseases Detection — PyTorch CNN</dc:title>
  <dc:subject>PptxGenJS Presentation</dc:subject>
  <dc:creator>PptxGenJS</dc:creator>
  <cp:lastModifiedBy>lidya b</cp:lastModifiedBy>
  <cp:revision>1</cp:revision>
  <dcterms:created xsi:type="dcterms:W3CDTF">2026-05-01T23:10:05Z</dcterms:created>
  <dcterms:modified xsi:type="dcterms:W3CDTF">2026-05-02T01:33:16Z</dcterms:modified>
</cp:coreProperties>
</file>