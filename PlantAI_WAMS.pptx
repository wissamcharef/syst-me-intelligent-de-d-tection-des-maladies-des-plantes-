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1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dya b" userId="771d04864dbbf309" providerId="LiveId" clId="{C6E42016-DD7E-4CB5-8224-356E34988B32}"/>
    <pc:docChg chg="undo custSel modSld">
      <pc:chgData name="lidya b" userId="771d04864dbbf309" providerId="LiveId" clId="{C6E42016-DD7E-4CB5-8224-356E34988B32}" dt="2026-05-01T23:45:04.267" v="164" actId="1076"/>
      <pc:docMkLst>
        <pc:docMk/>
      </pc:docMkLst>
      <pc:sldChg chg="addSp modSp mod">
        <pc:chgData name="lidya b" userId="771d04864dbbf309" providerId="LiveId" clId="{C6E42016-DD7E-4CB5-8224-356E34988B32}" dt="2026-05-01T23:45:04.267" v="164" actId="1076"/>
        <pc:sldMkLst>
          <pc:docMk/>
          <pc:sldMk cId="0" sldId="256"/>
        </pc:sldMkLst>
        <pc:spChg chg="mod">
          <ac:chgData name="lidya b" userId="771d04864dbbf309" providerId="LiveId" clId="{C6E42016-DD7E-4CB5-8224-356E34988B32}" dt="2026-05-01T23:43:32.467" v="150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lidya b" userId="771d04864dbbf309" providerId="LiveId" clId="{C6E42016-DD7E-4CB5-8224-356E34988B32}" dt="2026-05-01T23:45:04.267" v="164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lidya b" userId="771d04864dbbf309" providerId="LiveId" clId="{C6E42016-DD7E-4CB5-8224-356E34988B32}" dt="2026-05-01T23:44:42.559" v="162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lidya b" userId="771d04864dbbf309" providerId="LiveId" clId="{C6E42016-DD7E-4CB5-8224-356E34988B32}" dt="2026-05-01T23:44:38.598" v="161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lidya b" userId="771d04864dbbf309" providerId="LiveId" clId="{C6E42016-DD7E-4CB5-8224-356E34988B32}" dt="2026-05-01T23:43:45.773" v="153" actId="1076"/>
          <ac:spMkLst>
            <pc:docMk/>
            <pc:sldMk cId="0" sldId="256"/>
            <ac:spMk id="11" creationId="{00000000-0000-0000-0000-000000000000}"/>
          </ac:spMkLst>
        </pc:spChg>
        <pc:spChg chg="add mod">
          <ac:chgData name="lidya b" userId="771d04864dbbf309" providerId="LiveId" clId="{C6E42016-DD7E-4CB5-8224-356E34988B32}" dt="2026-05-01T23:44:34.547" v="160" actId="1076"/>
          <ac:spMkLst>
            <pc:docMk/>
            <pc:sldMk cId="0" sldId="256"/>
            <ac:spMk id="13" creationId="{41FCACB5-7267-43DC-9F76-9F9079545089}"/>
          </ac:spMkLst>
        </pc:spChg>
      </pc:sldChg>
      <pc:sldChg chg="modSp mod">
        <pc:chgData name="lidya b" userId="771d04864dbbf309" providerId="LiveId" clId="{C6E42016-DD7E-4CB5-8224-356E34988B32}" dt="2026-05-01T22:56:51.228" v="31" actId="20577"/>
        <pc:sldMkLst>
          <pc:docMk/>
          <pc:sldMk cId="0" sldId="258"/>
        </pc:sldMkLst>
        <pc:spChg chg="mod">
          <ac:chgData name="lidya b" userId="771d04864dbbf309" providerId="LiveId" clId="{C6E42016-DD7E-4CB5-8224-356E34988B32}" dt="2026-05-01T22:56:51.228" v="31" actId="20577"/>
          <ac:spMkLst>
            <pc:docMk/>
            <pc:sldMk cId="0" sldId="258"/>
            <ac:spMk id="13" creationId="{00000000-0000-0000-0000-000000000000}"/>
          </ac:spMkLst>
        </pc:spChg>
      </pc:sldChg>
      <pc:sldChg chg="modSp mod">
        <pc:chgData name="lidya b" userId="771d04864dbbf309" providerId="LiveId" clId="{C6E42016-DD7E-4CB5-8224-356E34988B32}" dt="2026-05-01T22:56:50.697" v="30" actId="1076"/>
        <pc:sldMkLst>
          <pc:docMk/>
          <pc:sldMk cId="0" sldId="261"/>
        </pc:sldMkLst>
        <pc:spChg chg="mod">
          <ac:chgData name="lidya b" userId="771d04864dbbf309" providerId="LiveId" clId="{C6E42016-DD7E-4CB5-8224-356E34988B32}" dt="2026-05-01T22:56:23.971" v="28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lidya b" userId="771d04864dbbf309" providerId="LiveId" clId="{C6E42016-DD7E-4CB5-8224-356E34988B32}" dt="2026-05-01T22:56:50.697" v="30" actId="1076"/>
          <ac:spMkLst>
            <pc:docMk/>
            <pc:sldMk cId="0" sldId="261"/>
            <ac:spMk id="36" creationId="{00000000-0000-0000-0000-000000000000}"/>
          </ac:spMkLst>
        </pc:spChg>
      </pc:sldChg>
      <pc:sldChg chg="modSp mod">
        <pc:chgData name="lidya b" userId="771d04864dbbf309" providerId="LiveId" clId="{C6E42016-DD7E-4CB5-8224-356E34988B32}" dt="2026-05-01T22:57:55.988" v="42" actId="20577"/>
        <pc:sldMkLst>
          <pc:docMk/>
          <pc:sldMk cId="0" sldId="264"/>
        </pc:sldMkLst>
        <pc:spChg chg="mod">
          <ac:chgData name="lidya b" userId="771d04864dbbf309" providerId="LiveId" clId="{C6E42016-DD7E-4CB5-8224-356E34988B32}" dt="2026-05-01T22:57:55.988" v="42" actId="20577"/>
          <ac:spMkLst>
            <pc:docMk/>
            <pc:sldMk cId="0" sldId="264"/>
            <ac:spMk id="6" creationId="{00000000-0000-0000-0000-000000000000}"/>
          </ac:spMkLst>
        </pc:spChg>
      </pc:sldChg>
      <pc:sldChg chg="modSp mod">
        <pc:chgData name="lidya b" userId="771d04864dbbf309" providerId="LiveId" clId="{C6E42016-DD7E-4CB5-8224-356E34988B32}" dt="2026-05-01T23:00:24.653" v="84" actId="20577"/>
        <pc:sldMkLst>
          <pc:docMk/>
          <pc:sldMk cId="0" sldId="265"/>
        </pc:sldMkLst>
        <pc:spChg chg="mod">
          <ac:chgData name="lidya b" userId="771d04864dbbf309" providerId="LiveId" clId="{C6E42016-DD7E-4CB5-8224-356E34988B32}" dt="2026-05-01T22:59:17.464" v="82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lidya b" userId="771d04864dbbf309" providerId="LiveId" clId="{C6E42016-DD7E-4CB5-8224-356E34988B32}" dt="2026-05-01T23:00:24.653" v="84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lidya b" userId="771d04864dbbf309" providerId="LiveId" clId="{C6E42016-DD7E-4CB5-8224-356E34988B32}" dt="2026-05-01T22:59:25.522" v="83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lidya b" userId="771d04864dbbf309" providerId="LiveId" clId="{C6E42016-DD7E-4CB5-8224-356E34988B32}" dt="2026-05-01T22:58:17.756" v="43" actId="20577"/>
          <ac:spMkLst>
            <pc:docMk/>
            <pc:sldMk cId="0" sldId="265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196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468880" cy="24688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1005840" cy="10058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🌿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79549" y="1549855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PlantAI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863165"/>
            <a:ext cx="7772400" cy="438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</a:t>
            </a:r>
            <a:r>
              <a:rPr lang="en-US" sz="20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790135"/>
            <a:ext cx="3976915" cy="45719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6005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Bouanzoul Lydia  ·  Charef Wissam  ·  </a:t>
            </a:r>
            <a:r>
              <a:rPr lang="en-US" sz="13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Boukhedouni</a:t>
            </a: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Meriem</a:t>
            </a: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3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</a:t>
            </a: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Hadjer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482884"/>
            <a:ext cx="8229600" cy="121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FCACB5-7267-43DC-9F76-9F9079545089}"/>
              </a:ext>
            </a:extLst>
          </p:cNvPr>
          <p:cNvSpPr txBox="1"/>
          <p:nvPr/>
        </p:nvSpPr>
        <p:spPr>
          <a:xfrm>
            <a:off x="379549" y="4618384"/>
            <a:ext cx="51707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2025 –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54864" cy="45034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33856"/>
            <a:ext cx="548640" cy="54864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33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1247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Problématique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444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agricole et enjeux du diagnostic précoce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883664"/>
            <a:ext cx="548640" cy="54864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874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PlantVillage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87 000+ images, 38 classes, 14 espèces végétales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633472"/>
            <a:ext cx="548640" cy="54864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6243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(WAMS)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2944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composants : REST, Auth, UI, RabbitMQ, Consul, Traefik, Docker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383280"/>
            <a:ext cx="548640" cy="54864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37413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Deep Learning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36941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CNN_NeuralNet — 99.44% de précision en 5 époques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4133088"/>
            <a:ext cx="548640" cy="54864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4133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12394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Conclusion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5840" y="44439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Performances, limites et perspectives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Problématique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maladies végétales : un enjeu mondial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54864" cy="45034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914400"/>
            <a:ext cx="2011680" cy="137160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960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01168" y="1645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récoltes perdues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</a:t>
            </a:r>
            <a:r>
              <a:rPr lang="en-US" sz="11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</a:t>
            </a: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(FAO 2022)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14016" y="914400"/>
            <a:ext cx="2011680" cy="1371600"/>
          </a:xfrm>
          <a:prstGeom prst="rect">
            <a:avLst/>
          </a:prstGeom>
          <a:solidFill>
            <a:srgbClr val="2C6E49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14016" y="960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~56%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14016" y="1645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précision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humaine moyenne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914400"/>
            <a:ext cx="2011680" cy="137160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960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-10ms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26864" y="1645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diagnostic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du système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39712" y="914400"/>
            <a:ext cx="2011680" cy="1371600"/>
          </a:xfrm>
          <a:prstGeom prst="rect">
            <a:avLst/>
          </a:prstGeom>
          <a:solidFill>
            <a:srgbClr val="2C6E49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960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39712" y="1645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de maladies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espèces végétales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" y="2468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L'intelligence artificielle et le Deep Learning permettent d'identifier automatiquement les pathologies végétales à partir d'images de feuilles. Ce projet combine 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2971800"/>
            <a:ext cx="85039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(CNN_NeuralNet) — classification automatique des 38 maladies végétales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WAMS — intégration dans une application web distribuée et scalable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comme outil d'assistance à l'agriculteur, non comme substitut à l'agronome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PlantVillage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référence mondiale pour la classification des maladies végétales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54864" cy="45034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51560"/>
            <a:ext cx="3840480" cy="530352"/>
          </a:xfrm>
          <a:prstGeom prst="rect">
            <a:avLst/>
          </a:prstGeom>
          <a:solidFill>
            <a:srgbClr val="E8F0EB"/>
          </a:solidFill>
          <a:ln w="12700">
            <a:solidFill>
              <a:srgbClr val="D1E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5156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05156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/ Penn State University (CC0)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" y="167335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67335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167335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87 000+ images JPEG 256×256 px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" y="2295144"/>
            <a:ext cx="3840480" cy="530352"/>
          </a:xfrm>
          <a:prstGeom prst="rect">
            <a:avLst/>
          </a:prstGeom>
          <a:solidFill>
            <a:srgbClr val="E8F0EB"/>
          </a:solidFill>
          <a:ln w="12700">
            <a:solidFill>
              <a:srgbClr val="D1E7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29514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229514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classes (maladies + états sains)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" y="2916936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91693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Espèces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291693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espèces végétales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" y="3538728"/>
            <a:ext cx="3840480" cy="530352"/>
          </a:xfrm>
          <a:prstGeom prst="rect">
            <a:avLst/>
          </a:prstGeom>
          <a:solidFill>
            <a:srgbClr val="E8F0EB"/>
          </a:solidFill>
          <a:ln w="12700">
            <a:solidFill>
              <a:srgbClr val="D1E7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353872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353872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~2.7 GB — licence domaine public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" y="416052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416052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71600" y="416052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(~69 600) / 20% val (~17 400)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10241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Maladies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1481328"/>
            <a:ext cx="320040" cy="3200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389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— Scab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1682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Taches fongiques sombres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066544"/>
            <a:ext cx="320040" cy="3200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9751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— Late Blight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Mildiou, taches huileuses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651760"/>
            <a:ext cx="320040" cy="3200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560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 — Early Blight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83480" y="2852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Taches concentriques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236976"/>
            <a:ext cx="320040" cy="3200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1455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 — Common Rust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83480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Pustules rouille-orangées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3822192"/>
            <a:ext cx="320040" cy="3200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7307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 — Black Rot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83480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Momification des baies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4407408"/>
            <a:ext cx="320040" cy="3200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4315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— TYLCV Virus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83480" y="46085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Enroulement des feuilles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(WAMS)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composants techniques pour une application distribuée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54864" cy="45034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100584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10058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74520" y="100584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0058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11880" y="100584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0058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49240" y="100584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0058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100584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0058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" y="260604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" y="26060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74520" y="260604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26060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37360" y="169164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69164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69164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69164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03320" y="2606040"/>
            <a:ext cx="5166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26517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données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94760" y="301752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L'utilisateur envoie une image via le Frontend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Traefik route la requête vers le Business 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Auth Service valide le token JWT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 requête est publiée dans RabbitMQ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Le Worker appelle le DL Service pour la prédiction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Consul assure la découverte dynamique des services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des Microservices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services métier + 3 services d'infrastructure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54864" cy="45034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987552"/>
            <a:ext cx="8778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987552"/>
            <a:ext cx="64008" cy="71323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33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JS/React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06070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image, dashboard, historique des analyses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4592" y="1783080"/>
            <a:ext cx="8778240" cy="713232"/>
          </a:xfrm>
          <a:prstGeom prst="rect">
            <a:avLst/>
          </a:prstGeom>
          <a:solidFill>
            <a:srgbClr val="E8F0EB"/>
          </a:solidFill>
          <a:ln w="12700">
            <a:solidFill>
              <a:srgbClr val="D1E7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" y="1783080"/>
            <a:ext cx="64008" cy="71323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18928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+ JWT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8562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Inscription, connexion, vérification token, OAuth2 Google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578608"/>
            <a:ext cx="8778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578608"/>
            <a:ext cx="64008" cy="71323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624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Service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" y="29626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5001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48840" y="26883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+ PyTorch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2651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/diagnose → Top-5 maladies avec score de confiance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4592" y="3374136"/>
            <a:ext cx="8778240" cy="713232"/>
          </a:xfrm>
          <a:prstGeom prst="rect">
            <a:avLst/>
          </a:prstGeom>
          <a:solidFill>
            <a:srgbClr val="E8F0EB"/>
          </a:solidFill>
          <a:ln w="12700">
            <a:solidFill>
              <a:srgbClr val="D1E7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3374136"/>
            <a:ext cx="64008" cy="71323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41985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" y="37581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48840" y="348386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SQLite/PostgreSQL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344728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diagnostics, appel DL service, publication RabbitMQ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64592" y="4169664"/>
            <a:ext cx="8778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4592" y="4169664"/>
            <a:ext cx="64008" cy="71323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2153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0040" y="4553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48840" y="42793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amqplib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424281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Consomme diagnosis_queue, publie diagnosis_results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987552"/>
            <a:ext cx="1737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Deep Learning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CNN_NeuralNet — Architecture ResNet-style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54864" cy="45034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1920240" cy="1188720"/>
          </a:xfrm>
          <a:prstGeom prst="rect">
            <a:avLst/>
          </a:prstGeom>
          <a:solidFill>
            <a:srgbClr val="2C6E49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256×256 RGB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1554480"/>
            <a:ext cx="256032" cy="0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960120"/>
            <a:ext cx="1920240" cy="1188720"/>
          </a:xfrm>
          <a:prstGeom prst="rect">
            <a:avLst/>
          </a:prstGeom>
          <a:solidFill>
            <a:srgbClr val="2C6E49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50592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Flip, Rotation,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ColorJitter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70832" y="1554480"/>
            <a:ext cx="256032" cy="0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960120"/>
            <a:ext cx="1920240" cy="11887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CNN_NeuralNet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ResNet-style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26864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Blocs résiduels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BatchNorm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47104" y="1554480"/>
            <a:ext cx="256032" cy="0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03136" y="960120"/>
            <a:ext cx="1920240" cy="1188720"/>
          </a:xfrm>
          <a:prstGeom prst="rect">
            <a:avLst/>
          </a:prstGeom>
          <a:solidFill>
            <a:srgbClr val="2C6E49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03136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classes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+ scores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" y="233172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de Performance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2724912"/>
          <a:ext cx="8732520" cy="9601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Entraînement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C6E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99.44%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164592" y="38221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One-Cycle LR Policy · 5 époques seulement · Architecture originale sans poids pré-entraînés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046720" y="2377440"/>
            <a:ext cx="960120" cy="9601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46720" y="23774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99.44%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l'Art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avec les travaux scientifiques récents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54864" cy="45034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005840"/>
            <a:ext cx="8778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05840"/>
            <a:ext cx="64008" cy="67665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698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Mohanty et al. (2016)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GoogLeNet + AlexNet — Frontiers in Plant Science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11155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99.35%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4592" y="1773936"/>
            <a:ext cx="8778240" cy="676656"/>
          </a:xfrm>
          <a:prstGeom prst="rect">
            <a:avLst/>
          </a:prstGeom>
          <a:solidFill>
            <a:srgbClr val="E8F0EB"/>
          </a:solidFill>
          <a:ln w="12700">
            <a:solidFill>
              <a:srgbClr val="D1E7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1773936"/>
            <a:ext cx="64008" cy="67665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8379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et al. (2019)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" y="21396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 — Computers &amp; Electronics in Agriculture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188366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99.75%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64592" y="2542032"/>
            <a:ext cx="8778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2542032"/>
            <a:ext cx="64008" cy="67665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06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Salim et al. (2022)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29077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EfficientNetB4 fine-tuning — Applied Sciences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26517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99.81%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64592" y="3310128"/>
            <a:ext cx="8778240" cy="676656"/>
          </a:xfrm>
          <a:prstGeom prst="rect">
            <a:avLst/>
          </a:prstGeom>
          <a:solidFill>
            <a:srgbClr val="E8F0EB"/>
          </a:solidFill>
          <a:ln w="12700">
            <a:solidFill>
              <a:srgbClr val="D1E7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" y="3310128"/>
            <a:ext cx="64008" cy="67665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3741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 et al. (2023)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" y="36758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+ Attention — Applied Soft Computing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341985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64592" y="4078224"/>
            <a:ext cx="8778240" cy="676656"/>
          </a:xfrm>
          <a:prstGeom prst="rect">
            <a:avLst/>
          </a:prstGeom>
          <a:solidFill>
            <a:srgbClr val="FFF3E8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" y="4078224"/>
            <a:ext cx="64008" cy="67665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1422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CNN_NeuralNet (2026)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0040" y="444398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originale, 5 époques, One-Cycle LR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41879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99.44%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54864" cy="45034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Clés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1168" y="1170432"/>
            <a:ext cx="42062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99.44% de précision sur 38 classes en 5 époques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WAMS complète (7 contraintes respectées)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-10 s grâce à l'API FastAPI + PyTorch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Docker multi-conteneurs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 + Google OAuth2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 via Consul, Load Balancing Traefik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7772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29768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 (ViT) pour les dépendances longue portée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pour l'explicabilité du modèle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ONNX / TFLite pour utilisation mobile hors-ligne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pour amélioration continue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aux cultures algériennes (dattes, olivier, figuier)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terrain (conditions réelles) pour améliorer la robustesse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777240"/>
            <a:ext cx="0" cy="2724912"/>
          </a:xfrm>
          <a:prstGeom prst="line">
            <a:avLst/>
          </a:prstGeom>
          <a:noFill/>
          <a:ln w="12700">
            <a:solidFill>
              <a:srgbClr val="D1E7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3611880"/>
            <a:ext cx="8796528" cy="123444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639312"/>
            <a:ext cx="8412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démontre la faisabilité d'un système de diagnostic phytosanitaire automatisé, combinant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et microservices pour offrir un outil d'aide à la décision rapide, scalable et sécurisé.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reste un outil d'assistance — l'expertise de l'agronome demeure indispensable.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PlantAI</a:t>
            </a:r>
            <a:r>
              <a:rPr lang="en-US" sz="18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—Microservices WAMS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063240"/>
            <a:ext cx="27432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7299" y="3231879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Bouanzoul Lydia · Charef Wissam · </a:t>
            </a:r>
            <a:r>
              <a:rPr lang="en-US" sz="13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Boukhedouni</a:t>
            </a: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Meriem</a:t>
            </a: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3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</a:t>
            </a: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Hadjer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2025 –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841</Words>
  <Application>Microsoft Office PowerPoint</Application>
  <PresentationFormat>On-screen Show (16:9)</PresentationFormat>
  <Paragraphs>196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PlantAI — Détection des Maladies des Plantes par Deep Learning et Microservices WAMS</dc:title>
  <dc:subject>PptxGenJS Presentation</dc:subject>
  <dc:creator>PptxGenJS</dc:creator>
  <cp:lastModifiedBy>lidya b</cp:lastModifiedBy>
  <cp:revision>3</cp:revision>
  <dcterms:created xsi:type="dcterms:W3CDTF">2026-05-01T22:49:19Z</dcterms:created>
  <dcterms:modified xsi:type="dcterms:W3CDTF">2026-05-02T00:42:06Z</dcterms:modified>
</cp:coreProperties>
</file>